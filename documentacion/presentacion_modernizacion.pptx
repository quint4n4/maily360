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EJECUTIVO ·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app.maily.mx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EB1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crítico y propuesta de modernización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468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5EB1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PHP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063240"/>
            <a:ext cx="2468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5EB1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832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063240"/>
            <a:ext cx="2468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5EB1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264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para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moderno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la dirección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60 SEGUNDOS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1947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seguridad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0" y="158191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de producción expuestas en GitHub e inyecciones SQL vía cookies. Multa LFPDPPP: hasta $30.8M MXN.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560320"/>
            <a:ext cx="9144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74320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679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módulos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55448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arquitectura moderna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389120" y="272491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procedural sin framework, sin tests, sin CI/CD. Costo de cambio: 5–10× más que un stack actual.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703320"/>
            <a:ext cx="91440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3822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$300K–$700K MXN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554480" y="4233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MVP nuevo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389120" y="386791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Reescritura modular en 4 meses con Next.js + NestJS. Competitivo con Doctoralia/Nimbo-X en 18 meses.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clave: parchar el legacy ($) o reescribir gradualmente ($$$ pero negocio escalable).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HOY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app.maily.mx en una página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clínico web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PHP monolítica para consultorios privados.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pacientes, agenda, expediente, recetas, finanzas, telemedicina y promoción.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 remota en servidor maily.mx. Frontend con Bootstrap 3 y jQuery.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37160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9180" y="16230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54880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en /mod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75120" y="137160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12280" y="150876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580" y="16230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1228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6812280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17720" y="306324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320040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33147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3749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4754880" y="4206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automáticos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75120" y="3063240"/>
            <a:ext cx="1874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32004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33147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12280" y="3749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812280" y="4206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en producción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funcional… pero construido con técnicas de 2010. La continuidad del negocio depende de él.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ORGANIZADO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Anatomía del repositorio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2606040"/>
            <a:ext cx="1371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682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60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módulos clínicos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(agenda, ficha, recetas…)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3474720"/>
            <a:ext cx="1371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369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MySQL + librerías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PHPExcel, FPDF, PHPMailer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4343400"/>
            <a:ext cx="1371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6908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6908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056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componentes/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3982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globales: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menú, funciones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2606040"/>
            <a:ext cx="9144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33172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331720"/>
            <a:ext cx="73152" cy="73152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3682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mercadopago/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2660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 a una app Laravel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¡FUERA del repo!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0" y="3474720"/>
            <a:ext cx="9144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20040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200400"/>
            <a:ext cx="73152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2369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mailyPush/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35295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(Composer aislado)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0" y="4343400"/>
            <a:ext cx="9144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06908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4069080"/>
            <a:ext cx="73152" cy="73152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1056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backup/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37960" y="43982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dump BD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debería estar en git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por include manual. 748+ ocurrencias del mismo patrón. Sin autoload, sin namespaces.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problemas críticos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585216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44752"/>
            <a:ext cx="365760" cy="36576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1790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GitHub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1618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host y password de la BD de producción están versionados en class/config.php.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1490472"/>
            <a:ext cx="1188720" cy="256032"/>
          </a:xfrm>
          <a:prstGeom prst="roundRect">
            <a:avLst>
              <a:gd name="adj" fmla="val 4642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1490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002536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002536"/>
            <a:ext cx="73152" cy="585216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121408"/>
            <a:ext cx="365760" cy="36576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9456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vía cookies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88720" y="2295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concatena $_COOKIE en queries — un atacante edita su cookie y entra a otra empresa.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15200" y="2167128"/>
            <a:ext cx="1188720" cy="256032"/>
          </a:xfrm>
          <a:prstGeom prst="roundRect">
            <a:avLst>
              <a:gd name="adj" fmla="val 4642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0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57200" y="2679192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679192"/>
            <a:ext cx="73152" cy="585216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" y="2798064"/>
            <a:ext cx="365760" cy="36576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7121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2724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sin firmar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18872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del usuario viaja en cookies cliente sin firma criptográfica ni $_SESSION.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315200" y="2843784"/>
            <a:ext cx="1188720" cy="256032"/>
          </a:xfrm>
          <a:prstGeom prst="roundRect">
            <a:avLst>
              <a:gd name="adj" fmla="val 4642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15200" y="2843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57200" y="3355848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7200" y="3355848"/>
            <a:ext cx="73152" cy="5852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4787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88720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duplicados/legacy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188720" y="3648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fichaAE, fichaContacto, _acceso, __agenda… código abandonado conviviendo con el vivo.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315200" y="3520440"/>
            <a:ext cx="1188720" cy="256032"/>
          </a:xfrm>
          <a:prstGeom prst="roundRect">
            <a:avLst>
              <a:gd name="adj" fmla="val 464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31520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57200" y="4032504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7200" y="4032504"/>
            <a:ext cx="73152" cy="5852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85800" y="4151376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224528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88720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tests, CI ni documentación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1188720" y="43251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pruebas automatizadas, 0 README, 0 pipelines. Cada cambio es manual y a ciegas.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7315200" y="4197096"/>
            <a:ext cx="1188720" cy="256032"/>
          </a:xfrm>
          <a:prstGeom prst="roundRect">
            <a:avLst>
              <a:gd name="adj" fmla="val 464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315200" y="4197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técnico con file:line disponible en el reporte adjunto.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es lo que hay en el código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916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class/config.php — línea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define("host", "mysql:host=maily.mx;
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dbname=mailymx_maily");
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define("usuario", "mailymx_maily");
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define("clave",   </a:t>
            </a:r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"m@1LYmx2o2oo6o1"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916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mod/recetaFicha/index.php — línea 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… from acceso
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a.idacceso=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'".</a:t>
            </a:r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$_COOKIE['mc_idusuario']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."'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m.fecha_fin desc";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91440" cy="150876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58444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esto para el negocio?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63040" y="37673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con acceso al repositorio en GitHub tiene la contraseña real de MySQL.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válido puede editar su cookie en el navegador y leer datos de OTRA empresa.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de cada login se guarda en texto plano en la tabla de actividad.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está en juego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" cy="155448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276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LFPDPPP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$30.8M MXN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salud = sensibles. Una fuga reportable expone a la sanción máxima del INAI.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325880"/>
            <a:ext cx="91440" cy="155448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62763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778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de 1 vía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892040" y="2240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clínicas confían el expediente de sus pacientes. Una sola fuga = pérdida masiva de cuentas.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017520"/>
            <a:ext cx="91440" cy="1554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19272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1732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escalar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41732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5×–10× costo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731520" y="3931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se replica en docenas de archivos. Onboarding de un dev nuevo: meses.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17720" y="301752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17720" y="3017520"/>
            <a:ext cx="91440" cy="1554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31927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cambio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57784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meses por feature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4892040" y="3931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Doctoralia y Nimbo-X lanzan IA scribe, Maily tarda trimestres en mover un botón.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que pasa sin actuar es deuda compuesta — técnica, legal y comercial.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competencia ya está aquí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46120"/>
        </p:xfrm>
        <a:graphic>
          <a:graphicData uri="http://schemas.openxmlformats.org/drawingml/2006/table">
            <a:tbl>
              <a:tblPr/>
              <a:tblGrid>
                <a:gridCol w="1691640"/>
                <a:gridCol w="1371600"/>
                <a:gridCol w="1280160"/>
                <a:gridCol w="1280160"/>
                <a:gridCol w="1463040"/>
                <a:gridCol w="1143000"/>
              </a:tblGrid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Doctoralia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Nimbo-X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Maily hoy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Polonia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MX/CO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EE.UU.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online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Expediente NOM-024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cert.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cert.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cert.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nativo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scribe (notas)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móvil paciente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MXN/mes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$1,230+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≈$840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gana en marketing y reseñas. Nimbo-X / Huli ganan en producto clínico certificado e IA.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LA BRECHA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la competencia tiene y Maily no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6420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por WhatsApp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hasta 35% el no-show.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32888" y="137160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0048" y="15544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66420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48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AI scribe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70048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doctor habla, la app llena el expediente sola.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08576" y="137160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45736" y="15544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66420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45736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del paciente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45736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Citas, recetas, recordatorios, pagos.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684264" y="137160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21424" y="15544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66420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21424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embebida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21424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Videoconsulta nativa sin Zoom externo.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30632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35584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3813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integrados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94360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MercadoPago + Stripe en el flujo de cita.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532888" y="30632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670048" y="324612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9776" y="3355848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70048" y="3813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NOM-024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670048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Requerida para vender a hospitales privados.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08576" y="30632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45736" y="32461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3355848"/>
            <a:ext cx="283464" cy="28346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45736" y="3813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CFDI 4.0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45736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nativa al cobrar la consulta.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684264" y="30632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821424" y="32461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3355848"/>
            <a:ext cx="283464" cy="28346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21424" y="3813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analítico real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21424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rate, LTV, ticket promedio.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de arriba es un motivo por el que un doctor cambia a Doctoralia, Nimbo-X o Huli.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moderno 2026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749808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36192"/>
            <a:ext cx="420624" cy="42062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34440" y="1682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+ Tailwind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187452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rápido, SEO, App Router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240280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40280"/>
            <a:ext cx="9144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240487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9631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234440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 (Expo)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34440" y="27432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compartiendo código TypeScript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3108960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108960"/>
            <a:ext cx="91440" cy="749808"/>
          </a:xfrm>
          <a:prstGeom prst="rect">
            <a:avLst/>
          </a:prstGeom>
          <a:solidFill>
            <a:srgbClr val="5EB1BF"/>
          </a:solidFill>
          <a:ln w="12700">
            <a:solidFill>
              <a:srgbClr val="5EB1B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3273552"/>
            <a:ext cx="420624" cy="420624"/>
          </a:xfrm>
          <a:prstGeom prst="ellipse">
            <a:avLst/>
          </a:prstGeom>
          <a:solidFill>
            <a:srgbClr val="5EB1BF"/>
          </a:solidFill>
          <a:ln w="12700">
            <a:solidFill>
              <a:srgbClr val="5EB1B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6499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444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234440" y="3419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NestJS (TypeScript)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234440" y="36118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multi-tenant, escalable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3977640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3977640"/>
            <a:ext cx="91440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5800" y="4142232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3367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3444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234440" y="4288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+ Redis + S3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234440" y="44805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Cifrado, residencia MX (AWS Querétaro)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577840" y="1371600"/>
            <a:ext cx="310896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577840" y="1371600"/>
            <a:ext cx="3108960" cy="3657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577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760720" y="1874520"/>
            <a:ext cx="329184" cy="329184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1956816"/>
            <a:ext cx="164592" cy="16459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217920" y="1856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760720" y="2331720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2414016"/>
            <a:ext cx="164592" cy="16459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21792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MercadoPago + Stripe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5760720" y="27889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2871216"/>
            <a:ext cx="164592" cy="16459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217920" y="2770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 (BAA)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5760720" y="3246120"/>
            <a:ext cx="329184" cy="32918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3016" y="3328416"/>
            <a:ext cx="164592" cy="16459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21792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Daily.co videoconsulta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5760720" y="3703320"/>
            <a:ext cx="329184" cy="32918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3785616"/>
            <a:ext cx="164592" cy="164592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217920" y="3685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 4.0</a:t>
            </a:r>
            <a:endParaRPr lang="en-US" sz="1200" dirty="0"/>
          </a:p>
        </p:txBody>
      </p:sp>
      <p:sp>
        <p:nvSpPr>
          <p:cNvPr id="51" name="Shape 40"/>
          <p:cNvSpPr/>
          <p:nvPr/>
        </p:nvSpPr>
        <p:spPr>
          <a:xfrm>
            <a:off x="5760720" y="4160520"/>
            <a:ext cx="329184" cy="329184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3016" y="4242816"/>
            <a:ext cx="164592" cy="16459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217920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+ 2FA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lenguaje (TypeScript) en web, móvil y servidor. Equipo más chico hace más.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Monolith con DDD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AUTH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20116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1214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5603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15768" y="18745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55848" y="20116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212140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5768" y="25603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54296" y="18745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94376" y="20116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212140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54296" y="25603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92824" y="18745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32904" y="20116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212140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92824" y="25603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77240" y="3035808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417320" y="3172968"/>
            <a:ext cx="502920" cy="50292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48" y="3282696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37216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2715768" y="3035808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55848" y="317296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76" y="3282696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715768" y="37216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Scribe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654296" y="3035808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294376" y="317296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104" y="3282696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54296" y="37216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592824" y="3035808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232904" y="3172968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632" y="3282696"/>
            <a:ext cx="283464" cy="28346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592824" y="37216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 solo despliegue · </a:t>
            </a:r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Módulos aislados con contratos claros · </a:t>
            </a:r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Extraíbles a microservicios cuando escale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457200" y="4882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seas 30+ devs y no antes, se extrae cada caja a su propio servicio.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MIGRAR SIN PARAR EL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Strategy: Strangler Fig (12–18 meses)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7498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74520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delante.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al PHP.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1874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60320" y="27889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246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stack nuevo.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no se toca.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874520"/>
            <a:ext cx="731520" cy="7315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434840" y="27889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 módulo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3246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escritura.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5→20→50→100% lectura.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18745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309360" y="27889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validación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49640" y="187452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183880" y="27889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8388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PHP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246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tráfico legacy.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5 años.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los rewrites "big-bang" en salud fracasan. Strangler Fig migra en producción, sin downtime.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POR MÓDULOS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Mantener · Mejorar · Agregar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funciona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(refactorizada)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paciente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con QR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 / landing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personal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básicos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269748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rediseño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14884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 con KPIs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+ CFDI nativo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médica + 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NOM-004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digital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/ productos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97480" cy="59436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716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 competencia ya tiene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iOS/Android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WhatsApp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scribe (ambient)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embebida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MercadoPago en flujo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paciente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gracia: no tirar nada útil. Migramos lo que vale, mejoramos lo que casi sirve y agregamos lo que falta.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VALIDACIÓN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MVP · 4 meses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3657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234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multi-tenant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BD Postgres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entornos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usuarios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32888" y="137160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371600"/>
            <a:ext cx="1965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 clínico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98648" y="2286000"/>
            <a:ext cx="1234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24231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multi-doctor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/ ficha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básico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137160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371600"/>
            <a:ext cx="196596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Comunicación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74336" y="2286000"/>
            <a:ext cx="1234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4231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+ QR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WhatsApp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transaccional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PWA paciente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84264" y="137160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84264" y="1371600"/>
            <a:ext cx="1965960" cy="365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84264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Monetización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50024" y="2286000"/>
            <a:ext cx="1234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24231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MercadoPago integrado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(Daily)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Piloto: 3 clínicas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+ iteración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del MVP: 3 clínicas piloto vivas + datos para decidir la inversión en producto v1.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COMPLETA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18 meses · MVP → Producto competitivo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7955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4023360"/>
            <a:ext cx="0" cy="731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76784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15544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MVP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1783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agenda, ficha, recetas, WhatsApp, pagos. 3 clínicas piloto.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65960" y="2331720"/>
            <a:ext cx="35356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57400" y="2331720"/>
            <a:ext cx="335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Producto v1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2560320"/>
            <a:ext cx="335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módulos completos, app móvil, telemedicina, IA scribe, NOM-024.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1089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2D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108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Paridad con líderes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337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doctores, ERP clínica, integraciones lab/farmacia, BAA HIPAA.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se entrega en producción. No es un rewrite oculto por 18 meses.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legacy PHP se va apagando módulo por módulo a partir del mes 6 (Strangler Fig).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y operación mensual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(rango realista, agencia mediana México)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(4 meses)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1737360"/>
            <a:ext cx="144018" cy="274320"/>
          </a:xfrm>
          <a:prstGeom prst="rect">
            <a:avLst/>
          </a:prstGeom>
          <a:solidFill>
            <a:srgbClr val="2A9D8F">
              <a:alpha val="4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737360"/>
            <a:ext cx="61722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 – $700K MXN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v1 (10 meses)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2240280"/>
            <a:ext cx="720090" cy="27432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240280"/>
            <a:ext cx="30861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$1,500K – $3,500K MXN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líderes (24 meses)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2743200"/>
            <a:ext cx="4114800" cy="274320"/>
          </a:xfrm>
          <a:prstGeom prst="rect">
            <a:avLst/>
          </a:prstGeom>
          <a:solidFill>
            <a:srgbClr val="0F4C5C">
              <a:alpha val="40000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743200"/>
            <a:ext cx="1645920" cy="2743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$8,000K – $20,000K MXN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MENSUAL (cloud + APIs)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doctores activos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26080" y="3749040"/>
            <a:ext cx="455254" cy="274320"/>
          </a:xfrm>
          <a:prstGeom prst="rect">
            <a:avLst/>
          </a:prstGeom>
          <a:solidFill>
            <a:srgbClr val="2A9D8F">
              <a:alpha val="4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749040"/>
            <a:ext cx="262647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 – $26K MXN/mes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doctores activos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0" y="4251960"/>
            <a:ext cx="4114800" cy="274320"/>
          </a:xfrm>
          <a:prstGeom prst="rect">
            <a:avLst/>
          </a:prstGeom>
          <a:solidFill>
            <a:srgbClr val="F4A261">
              <a:alpha val="4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4251960"/>
            <a:ext cx="2538919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$145K – $235K MXN/mes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 mexicano 2026. WhatsApp en vez de SMS recorta 60–90% el costo de comunicaciones.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AVANZAR HOY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Siguientes pasos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B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783080" y="1920240"/>
            <a:ext cx="1691640" cy="274320"/>
          </a:xfrm>
          <a:prstGeom prst="roundRect">
            <a:avLst>
              <a:gd name="adj" fmla="val 43333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2219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Apagar el incendio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4597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la contraseña de MySQL, sacar backup/ y .env del repo, parchar las 3 inyecciones SQL más expuestas.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86384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B1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163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1783080" y="2880360"/>
            <a:ext cx="1691640" cy="274320"/>
          </a:xfrm>
          <a:prstGeom prst="roundRect">
            <a:avLst>
              <a:gd name="adj" fmla="val 4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30 DÍAS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1821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el camino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41985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ejecutivo: parchar legacy vs reescribir con Strangler Fig. Acordar presupuesto y equipo (3–4 personas).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B1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7647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1783080" y="3840480"/>
            <a:ext cx="1691640" cy="274320"/>
          </a:xfrm>
          <a:prstGeom prst="roundRect">
            <a:avLst>
              <a:gd name="adj" fmla="val 43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840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DÍAS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1422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en vivo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437997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Fase 1 del roadmap (auth + agenda + ficha + WhatsApp) con 2–3 clínicas piloto reales.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 sin decidir = deuda compuesta. La buena noticia: hay un camino claro.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modernización app.maily.mx</dc:title>
  <dc:subject>PptxGenJS Presentation</dc:subject>
  <dc:creator>Análisis ejecutivo 2026</dc:creator>
  <cp:lastModifiedBy>Análisis ejecutivo 2026</cp:lastModifiedBy>
  <cp:revision>1</cp:revision>
  <dcterms:created xsi:type="dcterms:W3CDTF">2026-05-20T01:43:19Z</dcterms:created>
  <dcterms:modified xsi:type="dcterms:W3CDTF">2026-05-20T01:43:19Z</dcterms:modified>
</cp:coreProperties>
</file>